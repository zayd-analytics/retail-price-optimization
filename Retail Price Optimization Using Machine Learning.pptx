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D474-3D6D-4024-B531-85985F490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9004" y="2404534"/>
            <a:ext cx="8144999" cy="1646302"/>
          </a:xfrm>
        </p:spPr>
        <p:txBody>
          <a:bodyPr/>
          <a:lstStyle/>
          <a:p>
            <a:r>
              <a:rPr lang="en-US" dirty="0"/>
              <a:t>Retail Price Optimization Using Machine Learning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DAF28-DB2B-446D-B860-115683CB66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Zayd | Data Science Project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Python • Pandas • </a:t>
            </a:r>
            <a:r>
              <a:rPr lang="en-US" dirty="0" err="1">
                <a:solidFill>
                  <a:schemeClr val="tx1"/>
                </a:solidFill>
              </a:rPr>
              <a:t>Scikit</a:t>
            </a:r>
            <a:r>
              <a:rPr lang="en-US" dirty="0">
                <a:solidFill>
                  <a:schemeClr val="tx1"/>
                </a:solidFill>
              </a:rPr>
              <a:t>-learn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197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D826-0490-4586-98FB-C4B5C47B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dirty="0"/>
              <a:t>Retail Pricing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F1AC-C184-4B67-82DC-53BD3F239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614331" cy="3880773"/>
          </a:xfrm>
        </p:spPr>
        <p:txBody>
          <a:bodyPr/>
          <a:lstStyle/>
          <a:p>
            <a:r>
              <a:rPr lang="en-US" dirty="0"/>
              <a:t>- </a:t>
            </a:r>
            <a:r>
              <a:rPr lang="en-US" sz="2800" dirty="0"/>
              <a:t>Pricing directly impacts revenue &amp; margin </a:t>
            </a:r>
            <a:br>
              <a:rPr lang="en-US" sz="2800" dirty="0"/>
            </a:br>
            <a:r>
              <a:rPr lang="en-US" sz="2800" dirty="0"/>
              <a:t>- Must balance competitiveness and profitability </a:t>
            </a:r>
            <a:br>
              <a:rPr lang="en-US" sz="2800" dirty="0"/>
            </a:br>
            <a:r>
              <a:rPr lang="en-US" sz="2800" dirty="0"/>
              <a:t>- Influenced by product, demand, competitors, seasonality 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0504C-1AF9-463F-9BAC-488AE5C69CB7}"/>
              </a:ext>
            </a:extLst>
          </p:cNvPr>
          <p:cNvSpPr txBox="1"/>
          <p:nvPr/>
        </p:nvSpPr>
        <p:spPr>
          <a:xfrm>
            <a:off x="1334278" y="4845106"/>
            <a:ext cx="87521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Objective:</a:t>
            </a:r>
            <a:br>
              <a:rPr lang="en-US" sz="2400" dirty="0"/>
            </a:br>
            <a:r>
              <a:rPr lang="en-US" sz="2400" dirty="0"/>
              <a:t>Build a predictive model to identify key drivers of product pricing.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5535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D826-0490-4586-98FB-C4B5C47B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F1AC-C184-4B67-82DC-53BD3F239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896" y="1666068"/>
            <a:ext cx="9614331" cy="3880773"/>
          </a:xfrm>
        </p:spPr>
        <p:txBody>
          <a:bodyPr>
            <a:normAutofit/>
          </a:bodyPr>
          <a:lstStyle/>
          <a:p>
            <a:r>
              <a:rPr lang="en-US" sz="2800" dirty="0"/>
              <a:t>Dataset Includes: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- Product attributes </a:t>
            </a:r>
            <a:br>
              <a:rPr lang="en-US" sz="2800" dirty="0"/>
            </a:br>
            <a:r>
              <a:rPr lang="en-US" sz="2800" dirty="0"/>
              <a:t>- Pricing variables </a:t>
            </a:r>
            <a:br>
              <a:rPr lang="en-US" sz="2800" dirty="0"/>
            </a:br>
            <a:r>
              <a:rPr lang="en-US" sz="2800" dirty="0"/>
              <a:t>- Competitor prices (3 competitors) </a:t>
            </a:r>
            <a:br>
              <a:rPr lang="en-US" sz="2800" dirty="0"/>
            </a:br>
            <a:r>
              <a:rPr lang="en-US" sz="2800" dirty="0"/>
              <a:t>- Time-based features </a:t>
            </a:r>
            <a:br>
              <a:rPr lang="en-US" sz="2800" dirty="0"/>
            </a:br>
            <a:r>
              <a:rPr lang="en-US" sz="2800" dirty="0"/>
              <a:t>- Engineered competitive metrics </a:t>
            </a:r>
            <a:br>
              <a:rPr lang="en-US" sz="2800" dirty="0"/>
            </a:b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0504C-1AF9-463F-9BAC-488AE5C69CB7}"/>
              </a:ext>
            </a:extLst>
          </p:cNvPr>
          <p:cNvSpPr txBox="1"/>
          <p:nvPr/>
        </p:nvSpPr>
        <p:spPr>
          <a:xfrm>
            <a:off x="1284516" y="5191932"/>
            <a:ext cx="8752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Multi-dimensional view of pricing behavior.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9673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D826-0490-4586-98FB-C4B5C47B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F1AC-C184-4B67-82DC-53BD3F239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15356"/>
            <a:ext cx="9614331" cy="3880773"/>
          </a:xfrm>
        </p:spPr>
        <p:txBody>
          <a:bodyPr>
            <a:normAutofit/>
          </a:bodyPr>
          <a:lstStyle/>
          <a:p>
            <a:r>
              <a:rPr lang="en-US" sz="3200" dirty="0"/>
              <a:t>Created competitive indicators: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- Price differences vs competitors </a:t>
            </a:r>
            <a:br>
              <a:rPr lang="en-US" sz="3200" dirty="0"/>
            </a:br>
            <a:r>
              <a:rPr lang="en-US" sz="3200" dirty="0"/>
              <a:t>- Average competitor price </a:t>
            </a:r>
            <a:br>
              <a:rPr lang="en-US" sz="3200" dirty="0"/>
            </a:br>
            <a:r>
              <a:rPr lang="en-US" sz="3200" dirty="0"/>
              <a:t>- Relative price index 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0504C-1AF9-463F-9BAC-488AE5C69CB7}"/>
              </a:ext>
            </a:extLst>
          </p:cNvPr>
          <p:cNvSpPr txBox="1"/>
          <p:nvPr/>
        </p:nvSpPr>
        <p:spPr>
          <a:xfrm>
            <a:off x="1108442" y="4723808"/>
            <a:ext cx="8752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Captures *market positioning*, not just raw price.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68003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D826-0490-4586-98FB-C4B5C47B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dirty="0" err="1"/>
              <a:t>Preprocessing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F1AC-C184-4B67-82DC-53BD3F239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15356"/>
            <a:ext cx="9614331" cy="3880773"/>
          </a:xfrm>
        </p:spPr>
        <p:txBody>
          <a:bodyPr>
            <a:normAutofit/>
          </a:bodyPr>
          <a:lstStyle/>
          <a:p>
            <a:r>
              <a:rPr lang="en-US" sz="3200" dirty="0"/>
              <a:t>- Selected relevant predictors </a:t>
            </a:r>
            <a:br>
              <a:rPr lang="en-US" sz="3200" dirty="0"/>
            </a:br>
            <a:r>
              <a:rPr lang="en-US" sz="3200" dirty="0"/>
              <a:t>- Train-test split </a:t>
            </a:r>
            <a:br>
              <a:rPr lang="en-US" sz="3200" dirty="0"/>
            </a:br>
            <a:r>
              <a:rPr lang="en-US" sz="3200" dirty="0"/>
              <a:t>- Built ML pipeline </a:t>
            </a:r>
            <a:br>
              <a:rPr lang="en-US" sz="3200" dirty="0"/>
            </a:br>
            <a:r>
              <a:rPr lang="en-US" sz="3200" dirty="0"/>
              <a:t>- Prevented data leakage during transformations 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0504C-1AF9-463F-9BAC-488AE5C69CB7}"/>
              </a:ext>
            </a:extLst>
          </p:cNvPr>
          <p:cNvSpPr txBox="1"/>
          <p:nvPr/>
        </p:nvSpPr>
        <p:spPr>
          <a:xfrm>
            <a:off x="1108442" y="4452072"/>
            <a:ext cx="8752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Reproducible and structured workflow.</a:t>
            </a:r>
          </a:p>
        </p:txBody>
      </p:sp>
    </p:spTree>
    <p:extLst>
      <p:ext uri="{BB962C8B-B14F-4D97-AF65-F5344CB8AC3E}">
        <p14:creationId xmlns:p14="http://schemas.microsoft.com/office/powerpoint/2010/main" val="784996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D826-0490-4586-98FB-C4B5C47B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dirty="0" err="1"/>
              <a:t>Modeling</a:t>
            </a:r>
            <a:r>
              <a:rPr lang="en-IN" sz="4400" dirty="0"/>
              <a:t>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F1AC-C184-4B67-82DC-53BD3F239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15356"/>
            <a:ext cx="9614331" cy="3880773"/>
          </a:xfrm>
        </p:spPr>
        <p:txBody>
          <a:bodyPr>
            <a:normAutofit/>
          </a:bodyPr>
          <a:lstStyle/>
          <a:p>
            <a:r>
              <a:rPr lang="en-US" sz="3200" dirty="0"/>
              <a:t>Models used: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- Linear Regression (interpretability) </a:t>
            </a:r>
            <a:br>
              <a:rPr lang="en-US" sz="3200" dirty="0"/>
            </a:br>
            <a:r>
              <a:rPr lang="en-US" sz="3200" dirty="0"/>
              <a:t>- Ridge Regression (regularization) </a:t>
            </a:r>
            <a:br>
              <a:rPr lang="en-US" sz="3200" dirty="0"/>
            </a:b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0504C-1AF9-463F-9BAC-488AE5C69CB7}"/>
              </a:ext>
            </a:extLst>
          </p:cNvPr>
          <p:cNvSpPr txBox="1"/>
          <p:nvPr/>
        </p:nvSpPr>
        <p:spPr>
          <a:xfrm>
            <a:off x="1407021" y="4558269"/>
            <a:ext cx="8752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Goal: balance accuracy and stability.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12370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D826-0490-4586-98FB-C4B5C47B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dirty="0"/>
              <a:t>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F1AC-C184-4B67-82DC-53BD3F239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62422" y="1647405"/>
            <a:ext cx="9614331" cy="3880773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200" dirty="0"/>
              <a:t>Linear Regression</a:t>
            </a:r>
            <a:br>
              <a:rPr lang="en-US" sz="3200" dirty="0"/>
            </a:br>
            <a:r>
              <a:rPr lang="en-US" sz="3200" dirty="0"/>
              <a:t>- R² ≈ 0.99 </a:t>
            </a:r>
            <a:br>
              <a:rPr lang="en-US" sz="3200" dirty="0"/>
            </a:br>
            <a:r>
              <a:rPr lang="en-US" sz="3200" dirty="0"/>
              <a:t>- Low MAE 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Ridge</a:t>
            </a:r>
            <a:br>
              <a:rPr lang="en-US" sz="3200" dirty="0"/>
            </a:br>
            <a:r>
              <a:rPr lang="en-US" sz="3200" dirty="0"/>
              <a:t>- Slightly lower R² </a:t>
            </a:r>
            <a:br>
              <a:rPr lang="en-US" sz="3200" dirty="0"/>
            </a:br>
            <a:r>
              <a:rPr lang="en-US" sz="3200" dirty="0"/>
              <a:t>- Higher MAE </a:t>
            </a:r>
            <a:br>
              <a:rPr lang="en-US" sz="3200" dirty="0"/>
            </a:b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0504C-1AF9-463F-9BAC-488AE5C69CB7}"/>
              </a:ext>
            </a:extLst>
          </p:cNvPr>
          <p:cNvSpPr txBox="1"/>
          <p:nvPr/>
        </p:nvSpPr>
        <p:spPr>
          <a:xfrm>
            <a:off x="2349413" y="5444202"/>
            <a:ext cx="8752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High explanatory power observed.</a:t>
            </a:r>
          </a:p>
        </p:txBody>
      </p:sp>
    </p:spTree>
    <p:extLst>
      <p:ext uri="{BB962C8B-B14F-4D97-AF65-F5344CB8AC3E}">
        <p14:creationId xmlns:p14="http://schemas.microsoft.com/office/powerpoint/2010/main" val="4047466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D826-0490-4586-98FB-C4B5C47B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dirty="0"/>
              <a:t>Key Drivers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F1AC-C184-4B67-82DC-53BD3F239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15356"/>
            <a:ext cx="9614331" cy="3880773"/>
          </a:xfrm>
        </p:spPr>
        <p:txBody>
          <a:bodyPr>
            <a:normAutofit/>
          </a:bodyPr>
          <a:lstStyle/>
          <a:p>
            <a:r>
              <a:rPr lang="en-US" sz="3200" dirty="0"/>
              <a:t>Top influencing features: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- </a:t>
            </a:r>
            <a:r>
              <a:rPr lang="en-US" sz="3200" dirty="0" err="1"/>
              <a:t>unit_price</a:t>
            </a:r>
            <a:r>
              <a:rPr lang="en-US" sz="3200" dirty="0"/>
              <a:t> (dominant) </a:t>
            </a:r>
            <a:br>
              <a:rPr lang="en-US" sz="3200" dirty="0"/>
            </a:br>
            <a:r>
              <a:rPr lang="en-US" sz="3200" dirty="0"/>
              <a:t>- competitor price differences </a:t>
            </a:r>
            <a:br>
              <a:rPr lang="en-US" sz="3200" dirty="0"/>
            </a:br>
            <a:r>
              <a:rPr lang="en-US" sz="3200" dirty="0"/>
              <a:t>- volume </a:t>
            </a:r>
            <a:br>
              <a:rPr lang="en-US" sz="3200" dirty="0"/>
            </a:br>
            <a:r>
              <a:rPr lang="en-US" sz="3200" dirty="0"/>
              <a:t>- product attributes </a:t>
            </a:r>
            <a:br>
              <a:rPr lang="en-US" sz="3200" dirty="0"/>
            </a:b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0504C-1AF9-463F-9BAC-488AE5C69CB7}"/>
              </a:ext>
            </a:extLst>
          </p:cNvPr>
          <p:cNvSpPr txBox="1"/>
          <p:nvPr/>
        </p:nvSpPr>
        <p:spPr>
          <a:xfrm>
            <a:off x="1108442" y="5434519"/>
            <a:ext cx="87521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Base pricing structure drives most variance. Base pricing structure drives most variance.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01613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D826-0490-4586-98FB-C4B5C47B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dirty="0"/>
              <a:t>Competitive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F1AC-C184-4B67-82DC-53BD3F239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294" y="2160589"/>
            <a:ext cx="9614331" cy="3880773"/>
          </a:xfrm>
        </p:spPr>
        <p:txBody>
          <a:bodyPr>
            <a:normAutofit/>
          </a:bodyPr>
          <a:lstStyle/>
          <a:p>
            <a:r>
              <a:rPr lang="en-US" sz="3200" dirty="0"/>
              <a:t>- Competitor pricing impacts adjustments </a:t>
            </a:r>
            <a:br>
              <a:rPr lang="en-US" sz="3200" dirty="0"/>
            </a:br>
            <a:r>
              <a:rPr lang="en-US" sz="3200" dirty="0"/>
              <a:t>- Relative price position matters </a:t>
            </a:r>
            <a:br>
              <a:rPr lang="en-US" sz="3200" dirty="0"/>
            </a:br>
            <a:r>
              <a:rPr lang="en-US" sz="3200" dirty="0"/>
              <a:t>- Internal pricing remains primary driver </a:t>
            </a:r>
            <a:br>
              <a:rPr lang="en-US" sz="3200" dirty="0"/>
            </a:b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0504C-1AF9-463F-9BAC-488AE5C69CB7}"/>
              </a:ext>
            </a:extLst>
          </p:cNvPr>
          <p:cNvSpPr txBox="1"/>
          <p:nvPr/>
        </p:nvSpPr>
        <p:spPr>
          <a:xfrm>
            <a:off x="1080450" y="4622755"/>
            <a:ext cx="8752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Retail strategy is reactive, but internally anchored.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87753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D826-0490-4586-98FB-C4B5C47B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dirty="0"/>
              <a:t>Business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F1AC-C184-4B67-82DC-53BD3F239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294" y="2160589"/>
            <a:ext cx="9614331" cy="3880773"/>
          </a:xfrm>
        </p:spPr>
        <p:txBody>
          <a:bodyPr>
            <a:normAutofit/>
          </a:bodyPr>
          <a:lstStyle/>
          <a:p>
            <a:r>
              <a:rPr lang="en-US" sz="3200" dirty="0"/>
              <a:t>- Pricing decisions are structured, not random </a:t>
            </a:r>
            <a:br>
              <a:rPr lang="en-US" sz="3200" dirty="0"/>
            </a:br>
            <a:r>
              <a:rPr lang="en-US" sz="3200" dirty="0"/>
              <a:t>- Competitive gaps influence positioning </a:t>
            </a:r>
            <a:br>
              <a:rPr lang="en-US" sz="3200" dirty="0"/>
            </a:br>
            <a:r>
              <a:rPr lang="en-US" sz="3200" dirty="0"/>
              <a:t>- Demand-related features show moderate effect 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0504C-1AF9-463F-9BAC-488AE5C69CB7}"/>
              </a:ext>
            </a:extLst>
          </p:cNvPr>
          <p:cNvSpPr txBox="1"/>
          <p:nvPr/>
        </p:nvSpPr>
        <p:spPr>
          <a:xfrm>
            <a:off x="1080450" y="4622755"/>
            <a:ext cx="8752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 confirms strategic pricing behavior.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14901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D826-0490-4586-98FB-C4B5C47B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F1AC-C184-4B67-82DC-53BD3F239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294" y="2160589"/>
            <a:ext cx="9614331" cy="3880773"/>
          </a:xfrm>
        </p:spPr>
        <p:txBody>
          <a:bodyPr>
            <a:normAutofit/>
          </a:bodyPr>
          <a:lstStyle/>
          <a:p>
            <a:r>
              <a:rPr lang="en-US" sz="3200" dirty="0"/>
              <a:t>- Very high R² may indicate feature dominance </a:t>
            </a:r>
            <a:br>
              <a:rPr lang="en-US" sz="3200" dirty="0"/>
            </a:br>
            <a:r>
              <a:rPr lang="en-US" sz="3200" dirty="0"/>
              <a:t>- Linear model assumptions </a:t>
            </a:r>
            <a:br>
              <a:rPr lang="en-US" sz="3200" dirty="0"/>
            </a:br>
            <a:r>
              <a:rPr lang="en-US" sz="3200" dirty="0"/>
              <a:t>- No cross-validation </a:t>
            </a:r>
            <a:br>
              <a:rPr lang="en-US" sz="3200" dirty="0"/>
            </a:br>
            <a:r>
              <a:rPr lang="en-US" sz="3200" dirty="0"/>
              <a:t>- External factors not included 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0504C-1AF9-463F-9BAC-488AE5C69CB7}"/>
              </a:ext>
            </a:extLst>
          </p:cNvPr>
          <p:cNvSpPr txBox="1"/>
          <p:nvPr/>
        </p:nvSpPr>
        <p:spPr>
          <a:xfrm>
            <a:off x="1248402" y="4809368"/>
            <a:ext cx="8752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Results interpreted cautiously</a:t>
            </a:r>
            <a:r>
              <a:rPr lang="en-US" sz="2800" dirty="0"/>
              <a:t>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618450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D826-0490-4586-98FB-C4B5C47B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F1AC-C184-4B67-82DC-53BD3F239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294" y="2160589"/>
            <a:ext cx="9614331" cy="3880773"/>
          </a:xfrm>
        </p:spPr>
        <p:txBody>
          <a:bodyPr>
            <a:normAutofit/>
          </a:bodyPr>
          <a:lstStyle/>
          <a:p>
            <a:r>
              <a:rPr lang="en-US" sz="3200" dirty="0"/>
              <a:t>- Cross-validation </a:t>
            </a:r>
            <a:br>
              <a:rPr lang="en-US" sz="3200" dirty="0"/>
            </a:br>
            <a:r>
              <a:rPr lang="en-US" sz="3200" dirty="0"/>
              <a:t>- Remove potential leakage features </a:t>
            </a:r>
            <a:br>
              <a:rPr lang="en-US" sz="3200" dirty="0"/>
            </a:br>
            <a:r>
              <a:rPr lang="en-US" sz="3200" dirty="0"/>
              <a:t>- Test advanced models </a:t>
            </a:r>
            <a:br>
              <a:rPr lang="en-US" sz="3200" dirty="0"/>
            </a:br>
            <a:r>
              <a:rPr lang="en-US" sz="3200" dirty="0"/>
              <a:t>- Extend to dynamic pricing optimization 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0504C-1AF9-463F-9BAC-488AE5C69CB7}"/>
              </a:ext>
            </a:extLst>
          </p:cNvPr>
          <p:cNvSpPr txBox="1"/>
          <p:nvPr/>
        </p:nvSpPr>
        <p:spPr>
          <a:xfrm>
            <a:off x="1425684" y="4800037"/>
            <a:ext cx="8752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Move from prediction → strategy.</a:t>
            </a:r>
          </a:p>
        </p:txBody>
      </p:sp>
    </p:spTree>
    <p:extLst>
      <p:ext uri="{BB962C8B-B14F-4D97-AF65-F5344CB8AC3E}">
        <p14:creationId xmlns:p14="http://schemas.microsoft.com/office/powerpoint/2010/main" val="2472316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D474-3D6D-4024-B531-85985F490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649" y="2059302"/>
            <a:ext cx="8144999" cy="1646302"/>
          </a:xfrm>
        </p:spPr>
        <p:txBody>
          <a:bodyPr/>
          <a:lstStyle/>
          <a:p>
            <a:pPr algn="ctr"/>
            <a:r>
              <a:rPr lang="en-US" sz="8800" dirty="0"/>
              <a:t>THANK YOU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219375664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507</TotalTime>
  <Words>375</Words>
  <Application>Microsoft Office PowerPoint</Application>
  <PresentationFormat>Widescreen</PresentationFormat>
  <Paragraphs>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Retail Price Optimization Using Machine Learning</vt:lpstr>
      <vt:lpstr>Retail Pricing Challenge</vt:lpstr>
      <vt:lpstr>Dataset Overview</vt:lpstr>
      <vt:lpstr>Feature Engineering</vt:lpstr>
      <vt:lpstr>Preprocessing</vt:lpstr>
      <vt:lpstr>Modeling Approach</vt:lpstr>
      <vt:lpstr>Model Performance</vt:lpstr>
      <vt:lpstr>Key Drivers</vt:lpstr>
      <vt:lpstr>Competitive Insights</vt:lpstr>
      <vt:lpstr>Business Interpretation</vt:lpstr>
      <vt:lpstr>Limitations</vt:lpstr>
      <vt:lpstr>Next Steps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GAME CHANGER</dc:creator>
  <cp:lastModifiedBy>GAME CHANGER</cp:lastModifiedBy>
  <cp:revision>3</cp:revision>
  <dcterms:created xsi:type="dcterms:W3CDTF">2026-02-26T06:53:21Z</dcterms:created>
  <dcterms:modified xsi:type="dcterms:W3CDTF">2026-02-26T15:21:02Z</dcterms:modified>
</cp:coreProperties>
</file>